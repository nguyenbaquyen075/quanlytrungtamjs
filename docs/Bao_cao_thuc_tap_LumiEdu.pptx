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85" r:id="rId2"/>
    <p:sldId id="295" r:id="rId3"/>
    <p:sldId id="308" r:id="rId4"/>
    <p:sldId id="297" r:id="rId5"/>
    <p:sldId id="309" r:id="rId6"/>
    <p:sldId id="310" r:id="rId7"/>
    <p:sldId id="311" r:id="rId8"/>
    <p:sldId id="307" r:id="rId9"/>
    <p:sldId id="305" r:id="rId10"/>
    <p:sldId id="306" r:id="rId11"/>
    <p:sldId id="274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FFF0-41AA-60D6-2DE6-66B1A9551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819400"/>
            <a:ext cx="10668000" cy="1270000"/>
          </a:xfrm>
        </p:spPr>
        <p:txBody>
          <a:bodyPr anchor="ctr"/>
          <a:lstStyle>
            <a:lvl1pPr algn="ctr">
              <a:lnSpc>
                <a:spcPct val="100000"/>
              </a:lnSpc>
              <a:defRPr sz="3000" b="1">
                <a:solidFill>
                  <a:srgbClr val="0E3A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BF1FC-C86E-95EE-755D-23B2DD89E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292600"/>
            <a:ext cx="8382000" cy="1524000"/>
          </a:xfrm>
        </p:spPr>
        <p:txBody>
          <a:bodyPr anchor="t"/>
          <a:lstStyle>
            <a:lvl1pPr marL="0" indent="0" algn="ctr">
              <a:spcBef>
                <a:spcPts val="300"/>
              </a:spcBef>
              <a:buNone/>
              <a:defRPr sz="1600" b="1">
                <a:solidFill>
                  <a:srgbClr val="1F2937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88798-33EA-7374-821D-1B431E38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F237A-2043-3556-8005-AC1F7D17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CAC9-541A-A49D-7837-0E1E1A97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201" name="Cover Frame"/>
          <p:cNvSpPr/>
          <p:nvPr userDrawn="1"/>
        </p:nvSpPr>
        <p:spPr>
          <a:xfrm>
            <a:off x="177800" y="177800"/>
            <a:ext cx="11836400" cy="6502400"/>
          </a:xfrm>
          <a:prstGeom prst="rect">
            <a:avLst/>
          </a:prstGeom>
          <a:noFill/>
          <a:ln w="28575">
            <a:solidFill>
              <a:srgbClr val="0E3A66"/>
            </a:solidFill>
          </a:ln>
        </p:spPr>
        <p:txBody>
          <a:bodyPr/>
          <a:lstStyle/>
          <a:p>
            <a:endParaRPr lang="vi-VN"/>
          </a:p>
        </p:txBody>
      </p:sp>
      <p:sp>
        <p:nvSpPr>
          <p:cNvPr id="202" name="Cover Frame Inner"/>
          <p:cNvSpPr/>
          <p:nvPr userDrawn="1"/>
        </p:nvSpPr>
        <p:spPr>
          <a:xfrm>
            <a:off x="241300" y="241300"/>
            <a:ext cx="11709400" cy="6375400"/>
          </a:xfrm>
          <a:prstGeom prst="rect">
            <a:avLst/>
          </a:prstGeom>
          <a:noFill/>
          <a:ln w="9525">
            <a:solidFill>
              <a:srgbClr val="1B75BB"/>
            </a:solidFill>
          </a:ln>
        </p:spPr>
        <p:txBody>
          <a:bodyPr/>
          <a:lstStyle/>
          <a:p>
            <a:endParaRPr lang="vi-VN"/>
          </a:p>
        </p:txBody>
      </p:sp>
      <p:sp>
        <p:nvSpPr>
          <p:cNvPr id="203" name="School Name"/>
          <p:cNvSpPr txBox="1"/>
          <p:nvPr userDrawn="1"/>
        </p:nvSpPr>
        <p:spPr>
          <a:xfrm>
            <a:off x="762000" y="381000"/>
            <a:ext cx="10668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500" b="1" dirty="0">
                <a:solidFill>
                  <a:srgbClr val="0E3A66"/>
                </a:solidFill>
              </a:rPr>
              <a:t>TRƯỜNG ĐẠI HỌC CÔNG NGHỆ THÔNG TIN VÀ TRUYỀN THÔNG</a:t>
            </a:r>
          </a:p>
        </p:txBody>
      </p:sp>
      <p:pic>
        <p:nvPicPr>
          <p:cNvPr id="204" name="ICTU Logo" descr="Logo Trường ĐH CNTT&amp;T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2600" y="1092200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7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0E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277C-9C62-731F-F9AF-A4D27D3C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97200"/>
            <a:ext cx="10160000" cy="1397000"/>
          </a:xfrm>
        </p:spPr>
        <p:txBody>
          <a:bodyPr lIns="0" anchor="t"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23FB2-0C49-09CF-282D-325BFEEBE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235200"/>
            <a:ext cx="10160000" cy="508000"/>
          </a:xfrm>
        </p:spPr>
        <p:txBody>
          <a:bodyPr lIns="0" anchor="b"/>
          <a:lstStyle>
            <a:lvl1pPr marL="0" indent="0">
              <a:buNone/>
              <a:defRPr sz="1800" b="1" cap="all" spc="200">
                <a:solidFill>
                  <a:srgbClr val="8EC5F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5382-BA29-F010-989D-B29DB02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1F045-E6E7-E857-8C61-0825B1C6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E942-B75F-5AE5-73B5-0BAE9CA6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301" name="Section Accent"/>
          <p:cNvSpPr/>
          <p:nvPr userDrawn="1"/>
        </p:nvSpPr>
        <p:spPr>
          <a:xfrm>
            <a:off x="1016000" y="2844800"/>
            <a:ext cx="1016000" cy="50800"/>
          </a:xfrm>
          <a:prstGeom prst="rect">
            <a:avLst/>
          </a:prstGeom>
          <a:solidFill>
            <a:srgbClr val="4FA3E0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pic>
        <p:nvPicPr>
          <p:cNvPr id="302" name="ICTU Logo" descr="Logo Trường ĐH CNTT&amp;T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2000" y="381000"/>
            <a:ext cx="762000" cy="762000"/>
          </a:xfrm>
          <a:prstGeom prst="rect">
            <a:avLst/>
          </a:prstGeom>
        </p:spPr>
      </p:pic>
      <p:sp>
        <p:nvSpPr>
          <p:cNvPr id="303" name="Section Footer"/>
          <p:cNvSpPr txBox="1"/>
          <p:nvPr userDrawn="1"/>
        </p:nvSpPr>
        <p:spPr>
          <a:xfrm>
            <a:off x="1016000" y="629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vi-VN" sz="1000">
                <a:solidFill>
                  <a:srgbClr val="A9C4DE"/>
                </a:solidFill>
              </a:rPr>
              <a:t>Trường Đại học Công nghệ Thông tin và Truyền thông  |  Báo cáo kết quả Thực tập tốt nghiệp</a:t>
            </a:r>
          </a:p>
        </p:txBody>
      </p:sp>
    </p:spTree>
    <p:extLst>
      <p:ext uri="{BB962C8B-B14F-4D97-AF65-F5344CB8AC3E}">
        <p14:creationId xmlns:p14="http://schemas.microsoft.com/office/powerpoint/2010/main" val="58275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97C57-162B-D553-6F98-4B190B42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9E0B4-3629-9BC2-B90A-7158BB42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57F5A-FD0F-1BD3-E331-2C500AD5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256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E4AD-49CF-A87A-87B9-06EE6AB4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3280-5760-4E4B-AD35-711D1F27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8FE4-14F1-9A77-13BA-ADD28C0F0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089DB-638D-126F-520C-A814CE35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92B05-AE75-90D5-2BD2-97A9B98B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DF73F-0054-F742-8962-B5D2CED7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17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1DF8-A293-D5FE-B914-8100FF35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DF583-1FD9-254F-D159-441C616ADD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974A3-9286-D44A-CBB2-C2436A8B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DF5C7-7F3B-4F3A-6CF9-6952352D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F7547-98F6-52B4-3DC9-4BE47C89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CED5C-5940-39A1-0520-742B5AE3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784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05A7-D9F4-5A91-67C0-40AA8D2C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450FE-5EA1-224B-F35F-6CEB5B10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8F10-33C7-3D51-DD89-B3C0FD40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F33F7-69F5-8673-F568-0392F6FE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B227B-BA31-6C77-7756-C253A60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123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5666-255C-063E-3ED3-C363FA9BF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43F05-0A66-3F73-5121-0A549BA68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CC28-ECBA-1515-870C-6E5912F5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5F67E-4C9E-B61A-F688-6F76336D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F129-12A0-C0D4-5C53-4176C419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646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38452-816A-1D92-2C8A-88B1DC65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189F9-EFE6-2B8B-93D2-1A9555640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346200"/>
            <a:ext cx="109220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82701-7E0B-1CCA-F1E3-3EA1561E3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F13B0-F2F1-81E0-310F-F2852DB81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1243-E84E-4838-621E-C0840C5BA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101" name="Title Accent Bar"/>
          <p:cNvSpPr/>
          <p:nvPr userDrawn="1"/>
        </p:nvSpPr>
        <p:spPr>
          <a:xfrm>
            <a:off x="457200" y="419100"/>
            <a:ext cx="76200" cy="508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102" name="Title Rule"/>
          <p:cNvSpPr/>
          <p:nvPr userDrawn="1"/>
        </p:nvSpPr>
        <p:spPr>
          <a:xfrm>
            <a:off x="457200" y="1143000"/>
            <a:ext cx="11277600" cy="15875"/>
          </a:xfrm>
          <a:prstGeom prst="rect">
            <a:avLst/>
          </a:prstGeom>
          <a:solidFill>
            <a:srgbClr val="D6E4F2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103" name="Footer Rule"/>
          <p:cNvSpPr/>
          <p:nvPr userDrawn="1"/>
        </p:nvSpPr>
        <p:spPr>
          <a:xfrm>
            <a:off x="457200" y="6388100"/>
            <a:ext cx="11277600" cy="9525"/>
          </a:xfrm>
          <a:prstGeom prst="rect">
            <a:avLst/>
          </a:prstGeom>
          <a:solidFill>
            <a:srgbClr val="D6E4F2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pic>
        <p:nvPicPr>
          <p:cNvPr id="104" name="ICTU Logo" descr="Logo Trường ĐH CNTT&amp;TT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176000" y="279400"/>
            <a:ext cx="558800" cy="558800"/>
          </a:xfrm>
          <a:prstGeom prst="rect">
            <a:avLst/>
          </a:prstGeom>
        </p:spPr>
      </p:pic>
      <p:sp>
        <p:nvSpPr>
          <p:cNvPr id="105" name="Footer Text"/>
          <p:cNvSpPr txBox="1"/>
          <p:nvPr userDrawn="1"/>
        </p:nvSpPr>
        <p:spPr>
          <a:xfrm>
            <a:off x="457200" y="6451600"/>
            <a:ext cx="965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vi-VN" sz="1000">
                <a:solidFill>
                  <a:srgbClr val="6B7280"/>
                </a:solidFill>
              </a:rPr>
              <a:t>Trường Đại học Công nghệ Thông tin và Truyền thông  |  Báo cáo kết quả Thực tập tốt nghiệp</a:t>
            </a:r>
          </a:p>
        </p:txBody>
      </p:sp>
      <p:sp>
        <p:nvSpPr>
          <p:cNvPr id="106" name="Slide Number"/>
          <p:cNvSpPr txBox="1"/>
          <p:nvPr userDrawn="1"/>
        </p:nvSpPr>
        <p:spPr>
          <a:xfrm>
            <a:off x="10464800" y="64516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fld id="{B6F15528-21DE-4FAA-801E-634DDDAF4B2B}" type="slidenum">
              <a:rPr lang="vi-VN" sz="1100" b="1">
                <a:solidFill>
                  <a:srgbClr val="1B75BB"/>
                </a:solidFill>
              </a:rPr>
              <a:t>‹#›</a:t>
            </a:fld>
            <a:endParaRPr lang="vi-VN" sz="1100" b="1">
              <a:solidFill>
                <a:srgbClr val="1B75B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32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20" r:id="rId8"/>
    <p:sldLayoutId id="214748372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E3A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1B75BB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B45B-5DD5-E98C-D963-BE1D9A46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667000"/>
            <a:ext cx="10668000" cy="914400"/>
          </a:xfrm>
        </p:spPr>
        <p:txBody>
          <a:bodyPr/>
          <a:lstStyle/>
          <a:p>
            <a:r>
              <a:rPr lang="vi-VN" sz="2800" dirty="0"/>
              <a:t>CÔNG TY CỔ PHẦN CÔNG NGHỆ TFL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06D2C-423C-31BA-E1BA-89FEE269B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759200"/>
            <a:ext cx="10668000" cy="1778000"/>
          </a:xfrm>
        </p:spPr>
        <p:txBody>
          <a:bodyPr/>
          <a:lstStyle/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Sinh viên thực hiện:	</a:t>
            </a:r>
            <a:r>
              <a:rPr lang="vi-VN" sz="1500" dirty="0"/>
              <a:t>[Họ và tên]  –  MSSV: [Mã sinh viên]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Lớp:	</a:t>
            </a:r>
            <a:r>
              <a:rPr lang="vi-VN" sz="1500" dirty="0"/>
              <a:t>[Tên lớp]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Bộ phận / vị trí thực tập:	</a:t>
            </a:r>
            <a:r>
              <a:rPr lang="vi-VN" sz="1500" dirty="0"/>
              <a:t>Dự án LumiEdu – Lập trình viên Front-end (kèm Back-end)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Cán bộ hướng dẫn tại cơ sở:	</a:t>
            </a:r>
            <a:r>
              <a:rPr lang="vi-VN" sz="1500" dirty="0"/>
              <a:t>[Họ và tên, chức vụ]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</a:t>
            </a:r>
            <a:r>
              <a:rPr lang="en-US" sz="1500" b="0" dirty="0" err="1">
                <a:solidFill>
                  <a:srgbClr val="4B5563"/>
                </a:solidFill>
              </a:rPr>
              <a:t>Cán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bộ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quản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lý</a:t>
            </a:r>
            <a:r>
              <a:rPr lang="vi-VN" sz="1500" b="0" dirty="0">
                <a:solidFill>
                  <a:srgbClr val="4B5563"/>
                </a:solidFill>
              </a:rPr>
              <a:t>:</a:t>
            </a:r>
            <a:r>
              <a:rPr lang="vi-VN" sz="1500" b="0">
                <a:solidFill>
                  <a:srgbClr val="4B5563"/>
                </a:solidFill>
              </a:rPr>
              <a:t>	</a:t>
            </a:r>
            <a:r>
              <a:rPr lang="vi-VN" sz="1500"/>
              <a:t>[Họ </a:t>
            </a:r>
            <a:r>
              <a:rPr lang="vi-VN" sz="1500" dirty="0"/>
              <a:t>và tên]</a:t>
            </a:r>
          </a:p>
        </p:txBody>
      </p:sp>
      <p:sp>
        <p:nvSpPr>
          <p:cNvPr id="10" name="Report Type"/>
          <p:cNvSpPr txBox="1"/>
          <p:nvPr/>
        </p:nvSpPr>
        <p:spPr>
          <a:xfrm>
            <a:off x="762000" y="22098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1B75BB"/>
                </a:solidFill>
              </a:rPr>
              <a:t>BÁO CÁO KẾT QUẢ THỰC TẬP TỐT NGHIỆP</a:t>
            </a:r>
            <a:endParaRPr lang="vi-VN" sz="2000" b="1" dirty="0">
              <a:solidFill>
                <a:srgbClr val="1B75BB"/>
              </a:solidFill>
            </a:endParaRPr>
          </a:p>
        </p:txBody>
      </p:sp>
      <p:sp>
        <p:nvSpPr>
          <p:cNvPr id="11" name="Place and Date"/>
          <p:cNvSpPr txBox="1"/>
          <p:nvPr/>
        </p:nvSpPr>
        <p:spPr>
          <a:xfrm>
            <a:off x="762000" y="5969000"/>
            <a:ext cx="10668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400" b="1" dirty="0">
                <a:solidFill>
                  <a:srgbClr val="0E3A66"/>
                </a:solidFill>
              </a:rPr>
              <a:t>Thái Nguyên, tháng … năm 2026</a:t>
            </a:r>
          </a:p>
        </p:txBody>
      </p:sp>
      <p:sp>
        <p:nvSpPr>
          <p:cNvPr id="20" name="Faculty"/>
          <p:cNvSpPr txBox="1"/>
          <p:nvPr/>
        </p:nvSpPr>
        <p:spPr>
          <a:xfrm>
            <a:off x="762000" y="8128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vi-VN" sz="1500" b="1" dirty="0">
                <a:solidFill>
                  <a:srgbClr val="0E3A66"/>
                </a:solidFill>
              </a:rPr>
              <a:t>[KHOA / VIỆN ...]</a:t>
            </a:r>
          </a:p>
        </p:txBody>
      </p:sp>
    </p:spTree>
    <p:extLst>
      <p:ext uri="{BB962C8B-B14F-4D97-AF65-F5344CB8AC3E}">
        <p14:creationId xmlns:p14="http://schemas.microsoft.com/office/powerpoint/2010/main" val="215391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03A6-0668-CC7E-E5D2-9706A992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tiêu và phạm vi thực tập</a:t>
            </a:r>
          </a:p>
        </p:txBody>
      </p:sp>
      <p:sp>
        <p:nvSpPr>
          <p:cNvPr id="100" name="Card 01"/>
          <p:cNvSpPr/>
          <p:nvPr/>
        </p:nvSpPr>
        <p:spPr>
          <a:xfrm>
            <a:off x="635000" y="13970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1" name="Card bar"/>
          <p:cNvSpPr/>
          <p:nvPr/>
        </p:nvSpPr>
        <p:spPr>
          <a:xfrm>
            <a:off x="635000" y="13970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Card number"/>
          <p:cNvSpPr/>
          <p:nvPr/>
        </p:nvSpPr>
        <p:spPr>
          <a:xfrm>
            <a:off x="889000" y="1574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01</a:t>
            </a:r>
          </a:p>
        </p:txBody>
      </p:sp>
      <p:sp>
        <p:nvSpPr>
          <p:cNvPr id="103" name="Card heading"/>
          <p:cNvSpPr/>
          <p:nvPr/>
        </p:nvSpPr>
        <p:spPr>
          <a:xfrm>
            <a:off x="1600200" y="16256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Mục tiêu thực tập</a:t>
            </a:r>
          </a:p>
        </p:txBody>
      </p:sp>
      <p:sp>
        <p:nvSpPr>
          <p:cNvPr id="104" name="Card body"/>
          <p:cNvSpPr/>
          <p:nvPr/>
        </p:nvSpPr>
        <p:spPr>
          <a:xfrm>
            <a:off x="939800" y="2159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Vận dụng Node.js, React, CSDL quan hệ vào một hệ thống thực tế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Rèn quy trình làm phần mềm: phân tích, Git, kiểm thử, triển khai</a:t>
            </a:r>
          </a:p>
        </p:txBody>
      </p:sp>
      <p:sp>
        <p:nvSpPr>
          <p:cNvPr id="105" name="Card 02"/>
          <p:cNvSpPr/>
          <p:nvPr/>
        </p:nvSpPr>
        <p:spPr>
          <a:xfrm>
            <a:off x="6197600" y="13970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Card bar"/>
          <p:cNvSpPr/>
          <p:nvPr/>
        </p:nvSpPr>
        <p:spPr>
          <a:xfrm>
            <a:off x="6197600" y="13970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7" name="Card number"/>
          <p:cNvSpPr/>
          <p:nvPr/>
        </p:nvSpPr>
        <p:spPr>
          <a:xfrm>
            <a:off x="6451600" y="1574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02</a:t>
            </a:r>
          </a:p>
        </p:txBody>
      </p:sp>
      <p:sp>
        <p:nvSpPr>
          <p:cNvPr id="108" name="Card heading"/>
          <p:cNvSpPr/>
          <p:nvPr/>
        </p:nvSpPr>
        <p:spPr>
          <a:xfrm>
            <a:off x="7162800" y="16256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Thời gian và hình thức</a:t>
            </a:r>
          </a:p>
        </p:txBody>
      </p:sp>
      <p:sp>
        <p:nvSpPr>
          <p:cNvPr id="109" name="Card body"/>
          <p:cNvSpPr/>
          <p:nvPr/>
        </p:nvSpPr>
        <p:spPr>
          <a:xfrm>
            <a:off x="6502400" y="2159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Thời gian: </a:t>
            </a:r>
            <a:r>
              <a:rPr lang="vi-VN" sz="1600" dirty="0">
                <a:solidFill>
                  <a:srgbClr val="1F2937"/>
                </a:solidFill>
              </a:rPr>
              <a:t>03/07/2026 – 13/10/2026 (15 tuần)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Hình thức: </a:t>
            </a:r>
            <a:r>
              <a:rPr lang="vi-VN" sz="1600" dirty="0">
                <a:solidFill>
                  <a:srgbClr val="1F2937"/>
                </a:solidFill>
              </a:rPr>
              <a:t>[Trực tiếp / Trực tuyến / Kết hợp]</a:t>
            </a:r>
          </a:p>
        </p:txBody>
      </p:sp>
      <p:sp>
        <p:nvSpPr>
          <p:cNvPr id="110" name="Card 03"/>
          <p:cNvSpPr/>
          <p:nvPr/>
        </p:nvSpPr>
        <p:spPr>
          <a:xfrm>
            <a:off x="635000" y="38862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Card bar"/>
          <p:cNvSpPr/>
          <p:nvPr/>
        </p:nvSpPr>
        <p:spPr>
          <a:xfrm>
            <a:off x="635000" y="38862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2" name="Card number"/>
          <p:cNvSpPr/>
          <p:nvPr/>
        </p:nvSpPr>
        <p:spPr>
          <a:xfrm>
            <a:off x="889000" y="40640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03</a:t>
            </a:r>
          </a:p>
        </p:txBody>
      </p:sp>
      <p:sp>
        <p:nvSpPr>
          <p:cNvPr id="113" name="Card heading"/>
          <p:cNvSpPr/>
          <p:nvPr/>
        </p:nvSpPr>
        <p:spPr>
          <a:xfrm>
            <a:off x="1600200" y="41148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Bộ phận tiếp nhận</a:t>
            </a:r>
          </a:p>
        </p:txBody>
      </p:sp>
      <p:sp>
        <p:nvSpPr>
          <p:cNvPr id="114" name="Card body"/>
          <p:cNvSpPr/>
          <p:nvPr/>
        </p:nvSpPr>
        <p:spPr>
          <a:xfrm>
            <a:off x="939800" y="46482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Bộ phận: </a:t>
            </a:r>
            <a:r>
              <a:rPr lang="vi-VN" sz="1600" dirty="0">
                <a:solidFill>
                  <a:srgbClr val="1F2937"/>
                </a:solidFill>
              </a:rPr>
              <a:t>Nhóm phát triển dự án LumiEdu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Cán bộ hướng dẫn: </a:t>
            </a:r>
            <a:r>
              <a:rPr lang="vi-VN" sz="1600" dirty="0">
                <a:solidFill>
                  <a:srgbClr val="1F2937"/>
                </a:solidFill>
              </a:rPr>
              <a:t>[Họ tên, chức vụ]</a:t>
            </a:r>
          </a:p>
        </p:txBody>
      </p:sp>
      <p:sp>
        <p:nvSpPr>
          <p:cNvPr id="115" name="Card 04"/>
          <p:cNvSpPr/>
          <p:nvPr/>
        </p:nvSpPr>
        <p:spPr>
          <a:xfrm>
            <a:off x="6197600" y="38862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6" name="Card bar"/>
          <p:cNvSpPr/>
          <p:nvPr/>
        </p:nvSpPr>
        <p:spPr>
          <a:xfrm>
            <a:off x="6197600" y="38862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7" name="Card number"/>
          <p:cNvSpPr/>
          <p:nvPr/>
        </p:nvSpPr>
        <p:spPr>
          <a:xfrm>
            <a:off x="6451600" y="40640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04</a:t>
            </a:r>
          </a:p>
        </p:txBody>
      </p:sp>
      <p:sp>
        <p:nvSpPr>
          <p:cNvPr id="118" name="Card heading"/>
          <p:cNvSpPr/>
          <p:nvPr/>
        </p:nvSpPr>
        <p:spPr>
          <a:xfrm>
            <a:off x="7162800" y="41148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Nhiệm vụ cốt lõi được giao</a:t>
            </a:r>
          </a:p>
        </p:txBody>
      </p:sp>
      <p:sp>
        <p:nvSpPr>
          <p:cNvPr id="119" name="Card body"/>
          <p:cNvSpPr/>
          <p:nvPr/>
        </p:nvSpPr>
        <p:spPr>
          <a:xfrm>
            <a:off x="6502400" y="46482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Giao diện và chức năng bài tập, bài thi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Trang quản trị nội dung trang chủ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Trang bán sách, thanh toán, hỗ trợ triển khai</a:t>
            </a:r>
          </a:p>
        </p:txBody>
      </p:sp>
    </p:spTree>
    <p:extLst>
      <p:ext uri="{BB962C8B-B14F-4D97-AF65-F5344CB8AC3E}">
        <p14:creationId xmlns:p14="http://schemas.microsoft.com/office/powerpoint/2010/main" val="257326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7E7E-457F-D64C-1695-CB372231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về đơn vị thực tập</a:t>
            </a:r>
          </a:p>
        </p:txBody>
      </p:sp>
      <p:sp>
        <p:nvSpPr>
          <p:cNvPr id="100" name="Image Area"/>
          <p:cNvSpPr/>
          <p:nvPr/>
        </p:nvSpPr>
        <p:spPr>
          <a:xfrm>
            <a:off x="635000" y="1397000"/>
            <a:ext cx="4953000" cy="41910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203200" rIns="203200" bIns="203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[Logo hoặc hình ảnh đơn vị]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Ảnh thật, rõ nét, không kéo méo</a:t>
            </a:r>
          </a:p>
        </p:txBody>
      </p:sp>
      <p:sp>
        <p:nvSpPr>
          <p:cNvPr id="101" name="Caption"/>
          <p:cNvSpPr/>
          <p:nvPr/>
        </p:nvSpPr>
        <p:spPr>
          <a:xfrm>
            <a:off x="635000" y="5689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6B7280"/>
                </a:solidFill>
              </a:rPr>
              <a:t>Hình 1. Công ty Cổ phần Công nghệ TFL</a:t>
            </a:r>
          </a:p>
        </p:txBody>
      </p:sp>
      <p:sp>
        <p:nvSpPr>
          <p:cNvPr id="102" name="Fact label"/>
          <p:cNvSpPr/>
          <p:nvPr/>
        </p:nvSpPr>
        <p:spPr>
          <a:xfrm>
            <a:off x="5969000" y="14986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Tên đơn vị</a:t>
            </a:r>
          </a:p>
        </p:txBody>
      </p:sp>
      <p:sp>
        <p:nvSpPr>
          <p:cNvPr id="103" name="Fact value"/>
          <p:cNvSpPr/>
          <p:nvPr/>
        </p:nvSpPr>
        <p:spPr>
          <a:xfrm>
            <a:off x="5969000" y="18034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Công ty Cổ phần Công nghệ TFL</a:t>
            </a:r>
          </a:p>
        </p:txBody>
      </p:sp>
      <p:sp>
        <p:nvSpPr>
          <p:cNvPr id="104" name="Divider"/>
          <p:cNvSpPr/>
          <p:nvPr/>
        </p:nvSpPr>
        <p:spPr>
          <a:xfrm>
            <a:off x="5969000" y="22987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Fact label"/>
          <p:cNvSpPr/>
          <p:nvPr/>
        </p:nvSpPr>
        <p:spPr>
          <a:xfrm>
            <a:off x="5969000" y="24130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Lĩnh vực hoạt động</a:t>
            </a:r>
          </a:p>
        </p:txBody>
      </p:sp>
      <p:sp>
        <p:nvSpPr>
          <p:cNvPr id="106" name="Fact value"/>
          <p:cNvSpPr/>
          <p:nvPr/>
        </p:nvSpPr>
        <p:spPr>
          <a:xfrm>
            <a:off x="5969000" y="27178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[Ngành nghề, lĩnh vực chính]</a:t>
            </a:r>
          </a:p>
        </p:txBody>
      </p:sp>
      <p:sp>
        <p:nvSpPr>
          <p:cNvPr id="107" name="Divider"/>
          <p:cNvSpPr/>
          <p:nvPr/>
        </p:nvSpPr>
        <p:spPr>
          <a:xfrm>
            <a:off x="5969000" y="32131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8" name="Fact label"/>
          <p:cNvSpPr/>
          <p:nvPr/>
        </p:nvSpPr>
        <p:spPr>
          <a:xfrm>
            <a:off x="5969000" y="33274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Quy mô</a:t>
            </a:r>
          </a:p>
        </p:txBody>
      </p:sp>
      <p:sp>
        <p:nvSpPr>
          <p:cNvPr id="109" name="Fact value"/>
          <p:cNvSpPr/>
          <p:nvPr/>
        </p:nvSpPr>
        <p:spPr>
          <a:xfrm>
            <a:off x="5969000" y="36322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[Số nhân sự, số chi nhánh, năm thành lập]</a:t>
            </a:r>
          </a:p>
        </p:txBody>
      </p:sp>
      <p:sp>
        <p:nvSpPr>
          <p:cNvPr id="110" name="Divider"/>
          <p:cNvSpPr/>
          <p:nvPr/>
        </p:nvSpPr>
        <p:spPr>
          <a:xfrm>
            <a:off x="5969000" y="41275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Fact label"/>
          <p:cNvSpPr/>
          <p:nvPr/>
        </p:nvSpPr>
        <p:spPr>
          <a:xfrm>
            <a:off x="5969000" y="42418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Sản phẩm / dịch vụ chính</a:t>
            </a:r>
          </a:p>
        </p:txBody>
      </p:sp>
      <p:sp>
        <p:nvSpPr>
          <p:cNvPr id="112" name="Fact value"/>
          <p:cNvSpPr/>
          <p:nvPr/>
        </p:nvSpPr>
        <p:spPr>
          <a:xfrm>
            <a:off x="5969000" y="45466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[2–3 sản phẩm, dịch vụ tiêu biểu]</a:t>
            </a:r>
          </a:p>
        </p:txBody>
      </p:sp>
      <p:sp>
        <p:nvSpPr>
          <p:cNvPr id="113" name="Divider"/>
          <p:cNvSpPr/>
          <p:nvPr/>
        </p:nvSpPr>
        <p:spPr>
          <a:xfrm>
            <a:off x="5969000" y="50419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4" name="Fact label"/>
          <p:cNvSpPr/>
          <p:nvPr/>
        </p:nvSpPr>
        <p:spPr>
          <a:xfrm>
            <a:off x="5969000" y="51562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Bộ phận thực tập</a:t>
            </a:r>
          </a:p>
        </p:txBody>
      </p:sp>
      <p:sp>
        <p:nvSpPr>
          <p:cNvPr id="115" name="Fact value"/>
          <p:cNvSpPr/>
          <p:nvPr/>
        </p:nvSpPr>
        <p:spPr>
          <a:xfrm>
            <a:off x="5969000" y="54610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Nhóm dự án LumiEdu (quản lý trung tâm)</a:t>
            </a:r>
          </a:p>
        </p:txBody>
      </p:sp>
    </p:spTree>
    <p:extLst>
      <p:ext uri="{BB962C8B-B14F-4D97-AF65-F5344CB8AC3E}">
        <p14:creationId xmlns:p14="http://schemas.microsoft.com/office/powerpoint/2010/main" val="416265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07DF-E732-9A1F-54AB-DE68F807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Quy trình phát triển một tính năng của hệ thống</a:t>
            </a:r>
          </a:p>
        </p:txBody>
      </p:sp>
      <p:sp>
        <p:nvSpPr>
          <p:cNvPr id="100" name="Student span"/>
          <p:cNvSpPr/>
          <p:nvPr/>
        </p:nvSpPr>
        <p:spPr>
          <a:xfrm>
            <a:off x="2901950" y="1498600"/>
            <a:ext cx="4229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▼  Sinh viên trực tiếp thực hiện</a:t>
            </a:r>
          </a:p>
        </p:txBody>
      </p:sp>
      <p:sp>
        <p:nvSpPr>
          <p:cNvPr id="101" name="Step 1"/>
          <p:cNvSpPr/>
          <p:nvPr/>
        </p:nvSpPr>
        <p:spPr>
          <a:xfrm>
            <a:off x="635000" y="2032000"/>
            <a:ext cx="2362200" cy="914400"/>
          </a:xfrm>
          <a:prstGeom prst="homePlate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1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Tiếp nhận yêu cầu</a:t>
            </a:r>
          </a:p>
        </p:txBody>
      </p:sp>
      <p:sp>
        <p:nvSpPr>
          <p:cNvPr id="102" name="Step desc 1"/>
          <p:cNvSpPr/>
          <p:nvPr/>
        </p:nvSpPr>
        <p:spPr>
          <a:xfrm>
            <a:off x="7366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Nhu cầu của trung tâm → danh sách chức năng</a:t>
            </a:r>
          </a:p>
        </p:txBody>
      </p:sp>
      <p:sp>
        <p:nvSpPr>
          <p:cNvPr id="103" name="Step 2"/>
          <p:cNvSpPr/>
          <p:nvPr/>
        </p:nvSpPr>
        <p:spPr>
          <a:xfrm>
            <a:off x="277495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DCEBFA"/>
                </a:solidFill>
              </a:rPr>
              <a:t>Bước 2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Thiết kế</a:t>
            </a:r>
          </a:p>
        </p:txBody>
      </p:sp>
      <p:sp>
        <p:nvSpPr>
          <p:cNvPr id="104" name="Step desc 2"/>
          <p:cNvSpPr/>
          <p:nvPr/>
        </p:nvSpPr>
        <p:spPr>
          <a:xfrm>
            <a:off x="305435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Yêu cầu → bản đặc tả, mô hình dữ liệu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Phần việc của em: </a:t>
            </a:r>
            <a:r>
              <a:rPr lang="vi-VN" sz="1400" dirty="0">
                <a:solidFill>
                  <a:srgbClr val="1B75BB"/>
                </a:solidFill>
              </a:rPr>
              <a:t>thiết kế màn hình, luồng giao diện</a:t>
            </a:r>
          </a:p>
        </p:txBody>
      </p:sp>
      <p:sp>
        <p:nvSpPr>
          <p:cNvPr id="105" name="Step 3"/>
          <p:cNvSpPr/>
          <p:nvPr/>
        </p:nvSpPr>
        <p:spPr>
          <a:xfrm>
            <a:off x="491490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DCEBFA"/>
                </a:solidFill>
              </a:rPr>
              <a:t>Bước 3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Lập trình, kiểm thử</a:t>
            </a:r>
          </a:p>
        </p:txBody>
      </p:sp>
      <p:sp>
        <p:nvSpPr>
          <p:cNvPr id="106" name="Step desc 3"/>
          <p:cNvSpPr/>
          <p:nvPr/>
        </p:nvSpPr>
        <p:spPr>
          <a:xfrm>
            <a:off x="51943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Đặc tả → mã nguồn, test tự động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Phần việc của em: </a:t>
            </a:r>
            <a:r>
              <a:rPr lang="vi-VN" sz="1400" dirty="0">
                <a:solidFill>
                  <a:srgbClr val="1B75BB"/>
                </a:solidFill>
              </a:rPr>
              <a:t>code React, một phần API Node.js</a:t>
            </a:r>
          </a:p>
        </p:txBody>
      </p:sp>
      <p:sp>
        <p:nvSpPr>
          <p:cNvPr id="107" name="Step 4"/>
          <p:cNvSpPr/>
          <p:nvPr/>
        </p:nvSpPr>
        <p:spPr>
          <a:xfrm>
            <a:off x="705485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Review, CI</a:t>
            </a:r>
          </a:p>
        </p:txBody>
      </p:sp>
      <p:sp>
        <p:nvSpPr>
          <p:cNvPr id="108" name="Step desc 4"/>
          <p:cNvSpPr/>
          <p:nvPr/>
        </p:nvSpPr>
        <p:spPr>
          <a:xfrm>
            <a:off x="733425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Pull Request → mã được duyệt, CI đạt</a:t>
            </a:r>
          </a:p>
        </p:txBody>
      </p:sp>
      <p:sp>
        <p:nvSpPr>
          <p:cNvPr id="109" name="Step 5"/>
          <p:cNvSpPr/>
          <p:nvPr/>
        </p:nvSpPr>
        <p:spPr>
          <a:xfrm>
            <a:off x="919480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5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Triển khai</a:t>
            </a:r>
          </a:p>
        </p:txBody>
      </p:sp>
      <p:sp>
        <p:nvSpPr>
          <p:cNvPr id="110" name="Step desc 5"/>
          <p:cNvSpPr/>
          <p:nvPr/>
        </p:nvSpPr>
        <p:spPr>
          <a:xfrm>
            <a:off x="94742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Nhánh main → bản chạy trên Render</a:t>
            </a:r>
          </a:p>
        </p:txBody>
      </p:sp>
      <p:sp>
        <p:nvSpPr>
          <p:cNvPr id="111" name="Legend rule"/>
          <p:cNvSpPr/>
          <p:nvPr/>
        </p:nvSpPr>
        <p:spPr>
          <a:xfrm>
            <a:off x="635000" y="5638800"/>
            <a:ext cx="10922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2" name="Legend key 1"/>
          <p:cNvSpPr/>
          <p:nvPr/>
        </p:nvSpPr>
        <p:spPr>
          <a:xfrm>
            <a:off x="635000" y="5842000"/>
            <a:ext cx="177800" cy="177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3" name="Legend 1"/>
          <p:cNvSpPr/>
          <p:nvPr/>
        </p:nvSpPr>
        <p:spPr>
          <a:xfrm>
            <a:off x="914400" y="57912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Công đoạn sinh viên trực tiếp thực hiện</a:t>
            </a:r>
          </a:p>
        </p:txBody>
      </p:sp>
      <p:sp>
        <p:nvSpPr>
          <p:cNvPr id="114" name="Legend key 2"/>
          <p:cNvSpPr/>
          <p:nvPr/>
        </p:nvSpPr>
        <p:spPr>
          <a:xfrm>
            <a:off x="5334000" y="5842000"/>
            <a:ext cx="177800" cy="17780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5" name="Legend 2"/>
          <p:cNvSpPr/>
          <p:nvPr/>
        </p:nvSpPr>
        <p:spPr>
          <a:xfrm>
            <a:off x="5613400" y="57912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Công đoạn do bộ phận / nhóm khác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198115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1: Chức năng bài tập và bài thi trực tuyến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Cá nhân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Giáo viên cần giao bài tự luận, trắc nghiệm và đề thi trực tuyến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Làm trang tạo đề, làm bài, chấm bằng React; thêm API nộp bài, chấm điểm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React, React Router, Axios; một phần Express, Sequelize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Thi từng câu, chấm Đ/S theo ý a–d, chia điểm từng câu, in/tải đề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[Chèn ảnh: trang học sinh làm bài thi từng câu]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1: Màn hình làm bài và kết quả chấm điểm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791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2: Quản trị nội dung trang chủ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Cá nhân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Nhân viên muốn tự sửa banner, giảng viên, khóa học… trên trang chủ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Làm trang Cài đặt trang web, hook useSiteContent; thêm API lưu nội dung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React hook, REST API, kiểm thử đơn vị, chống XSS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8 khối trang chủ sửa được; nội dung cũ làm dự phòng khi chưa nhập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[Chèn ảnh: trang Cài đặt trang web trong admin]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2: Trang admin sửa nội dung trang chủ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118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3: Bán sách, thanh toán và triển khai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Cá nhân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Trung tâm cần bán sách, thu học phí online và đưa hệ thống lên mạng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Làm trang sách, giỏ hàng, thanh toán VietQR; hỗ trợ cấu hình Render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React, Axios, PostgreSQL (Neon/Supabase), Render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Trang sách + quản lý đơn, admin xác nhận thanh toán, biểu đồ doanh thu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[Chèn ảnh: trang bán sách và màn hình quản lý đơn]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3: Trang bán sách trên bản đã triển khai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11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B743-8817-688A-7CD0-B4AD5EA1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quả đạt được sau 15 tuần thực tập</a:t>
            </a:r>
          </a:p>
        </p:txBody>
      </p:sp>
      <p:sp>
        <p:nvSpPr>
          <p:cNvPr id="100" name="KPI card"/>
          <p:cNvSpPr/>
          <p:nvPr/>
        </p:nvSpPr>
        <p:spPr>
          <a:xfrm>
            <a:off x="6350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1" name="KPI bar"/>
          <p:cNvSpPr/>
          <p:nvPr/>
        </p:nvSpPr>
        <p:spPr>
          <a:xfrm>
            <a:off x="6350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KPI value"/>
          <p:cNvSpPr/>
          <p:nvPr/>
        </p:nvSpPr>
        <p:spPr>
          <a:xfrm>
            <a:off x="8890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50</a:t>
            </a:r>
          </a:p>
        </p:txBody>
      </p:sp>
      <p:sp>
        <p:nvSpPr>
          <p:cNvPr id="103" name="KPI label"/>
          <p:cNvSpPr/>
          <p:nvPr/>
        </p:nvSpPr>
        <p:spPr>
          <a:xfrm>
            <a:off x="8890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trang và component React đã xây dựng</a:t>
            </a:r>
          </a:p>
        </p:txBody>
      </p:sp>
      <p:sp>
        <p:nvSpPr>
          <p:cNvPr id="104" name="KPI card"/>
          <p:cNvSpPr/>
          <p:nvPr/>
        </p:nvSpPr>
        <p:spPr>
          <a:xfrm>
            <a:off x="43434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KPI bar"/>
          <p:cNvSpPr/>
          <p:nvPr/>
        </p:nvSpPr>
        <p:spPr>
          <a:xfrm>
            <a:off x="43434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KPI value"/>
          <p:cNvSpPr/>
          <p:nvPr/>
        </p:nvSpPr>
        <p:spPr>
          <a:xfrm>
            <a:off x="45974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116</a:t>
            </a:r>
          </a:p>
        </p:txBody>
      </p:sp>
      <p:sp>
        <p:nvSpPr>
          <p:cNvPr id="107" name="KPI label"/>
          <p:cNvSpPr/>
          <p:nvPr/>
        </p:nvSpPr>
        <p:spPr>
          <a:xfrm>
            <a:off x="45974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API endpoint giao diện đã kết nối</a:t>
            </a:r>
          </a:p>
        </p:txBody>
      </p:sp>
      <p:sp>
        <p:nvSpPr>
          <p:cNvPr id="108" name="KPI card"/>
          <p:cNvSpPr/>
          <p:nvPr/>
        </p:nvSpPr>
        <p:spPr>
          <a:xfrm>
            <a:off x="80518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9" name="KPI bar"/>
          <p:cNvSpPr/>
          <p:nvPr/>
        </p:nvSpPr>
        <p:spPr>
          <a:xfrm>
            <a:off x="80518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KPI value"/>
          <p:cNvSpPr/>
          <p:nvPr/>
        </p:nvSpPr>
        <p:spPr>
          <a:xfrm>
            <a:off x="83058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166</a:t>
            </a:r>
          </a:p>
        </p:txBody>
      </p:sp>
      <p:sp>
        <p:nvSpPr>
          <p:cNvPr id="111" name="KPI label"/>
          <p:cNvSpPr/>
          <p:nvPr/>
        </p:nvSpPr>
        <p:spPr>
          <a:xfrm>
            <a:off x="83058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commit trên GitHub, 7 Pull Request</a:t>
            </a:r>
          </a:p>
        </p:txBody>
      </p:sp>
      <p:sp>
        <p:nvSpPr>
          <p:cNvPr id="112" name="Evidence image"/>
          <p:cNvSpPr/>
          <p:nvPr/>
        </p:nvSpPr>
        <p:spPr>
          <a:xfrm>
            <a:off x="635000" y="2971800"/>
            <a:ext cx="3505200" cy="24892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[Chèn ảnh: trang chủ LumiEdu]</a:t>
            </a:r>
          </a:p>
        </p:txBody>
      </p:sp>
      <p:sp>
        <p:nvSpPr>
          <p:cNvPr id="113" name="Caption"/>
          <p:cNvSpPr/>
          <p:nvPr/>
        </p:nvSpPr>
        <p:spPr>
          <a:xfrm>
            <a:off x="635000" y="5537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Hình 1. Trang chủ hệ thống</a:t>
            </a:r>
          </a:p>
        </p:txBody>
      </p:sp>
      <p:sp>
        <p:nvSpPr>
          <p:cNvPr id="114" name="Evidence image"/>
          <p:cNvSpPr/>
          <p:nvPr/>
        </p:nvSpPr>
        <p:spPr>
          <a:xfrm>
            <a:off x="4343400" y="2971800"/>
            <a:ext cx="3505200" cy="24892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[Chèn ảnh: bảng điều khiển giáo viên]</a:t>
            </a:r>
          </a:p>
        </p:txBody>
      </p:sp>
      <p:sp>
        <p:nvSpPr>
          <p:cNvPr id="115" name="Caption"/>
          <p:cNvSpPr/>
          <p:nvPr/>
        </p:nvSpPr>
        <p:spPr>
          <a:xfrm>
            <a:off x="4343400" y="5537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Hình 2. Bảng điều khiển giáo viên</a:t>
            </a:r>
          </a:p>
        </p:txBody>
      </p:sp>
      <p:sp>
        <p:nvSpPr>
          <p:cNvPr id="116" name="Mentor quote"/>
          <p:cNvSpPr/>
          <p:nvPr/>
        </p:nvSpPr>
        <p:spPr>
          <a:xfrm>
            <a:off x="8051800" y="2971800"/>
            <a:ext cx="3505200" cy="2844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4000" b="1" dirty="0">
                <a:solidFill>
                  <a:srgbClr val="4FA3E0"/>
                </a:solidFill>
              </a:rPr>
              <a:t>“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vi-VN" sz="1600" i="1" dirty="0">
                <a:solidFill>
                  <a:srgbClr val="FFFFFF"/>
                </a:solidFill>
              </a:rPr>
              <a:t>[Trích nhận xét của cán bộ hướng dẫn tại đơn vị]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vi-VN" sz="1400" b="1" dirty="0">
                <a:solidFill>
                  <a:srgbClr val="A9C9EA"/>
                </a:solidFill>
              </a:rPr>
              <a:t>— [Họ tên, chức vụ]</a:t>
            </a:r>
          </a:p>
        </p:txBody>
      </p:sp>
    </p:spTree>
    <p:extLst>
      <p:ext uri="{BB962C8B-B14F-4D97-AF65-F5344CB8AC3E}">
        <p14:creationId xmlns:p14="http://schemas.microsoft.com/office/powerpoint/2010/main" val="256806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86C2-8B88-98BC-48F1-89F7F2CA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Tự đánh giá và bài học kinh nghiệm</a:t>
            </a:r>
          </a:p>
        </p:txBody>
      </p:sp>
      <p:sp>
        <p:nvSpPr>
          <p:cNvPr id="100" name="Completion label"/>
          <p:cNvSpPr/>
          <p:nvPr/>
        </p:nvSpPr>
        <p:spPr>
          <a:xfrm>
            <a:off x="635000" y="1346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0E3A66"/>
                </a:solidFill>
              </a:rPr>
              <a:t>Mức độ hoàn thành công việc được giao</a:t>
            </a:r>
          </a:p>
        </p:txBody>
      </p:sp>
      <p:sp>
        <p:nvSpPr>
          <p:cNvPr id="101" name="Completion value"/>
          <p:cNvSpPr/>
          <p:nvPr/>
        </p:nvSpPr>
        <p:spPr>
          <a:xfrm>
            <a:off x="5969000" y="1346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1B75BB"/>
                </a:solidFill>
              </a:rPr>
              <a:t>[00%]</a:t>
            </a:r>
          </a:p>
        </p:txBody>
      </p:sp>
      <p:sp>
        <p:nvSpPr>
          <p:cNvPr id="102" name="Progress track"/>
          <p:cNvSpPr/>
          <p:nvPr/>
        </p:nvSpPr>
        <p:spPr>
          <a:xfrm>
            <a:off x="635000" y="1752600"/>
            <a:ext cx="6604000" cy="12700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3" name="Progress fill (kéo theo %)"/>
          <p:cNvSpPr/>
          <p:nvPr/>
        </p:nvSpPr>
        <p:spPr>
          <a:xfrm>
            <a:off x="635000" y="1752600"/>
            <a:ext cx="5283200" cy="127000"/>
          </a:xfrm>
          <a:prstGeom prst="roundRect">
            <a:avLst>
              <a:gd name="adj" fmla="val 50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4" name="Col head 1"/>
          <p:cNvSpPr/>
          <p:nvPr/>
        </p:nvSpPr>
        <p:spPr>
          <a:xfrm>
            <a:off x="635000" y="2159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KHÓ KHĂN GẶP PHẢI</a:t>
            </a:r>
          </a:p>
        </p:txBody>
      </p:sp>
      <p:sp>
        <p:nvSpPr>
          <p:cNvPr id="105" name="Col head 2"/>
          <p:cNvSpPr/>
          <p:nvPr/>
        </p:nvSpPr>
        <p:spPr>
          <a:xfrm>
            <a:off x="4064000" y="2159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CÁCH EM ĐÃ XỬ LÝ</a:t>
            </a:r>
          </a:p>
        </p:txBody>
      </p:sp>
      <p:sp>
        <p:nvSpPr>
          <p:cNvPr id="106" name="Difficulty"/>
          <p:cNvSpPr/>
          <p:nvPr/>
        </p:nvSpPr>
        <p:spPr>
          <a:xfrm>
            <a:off x="635000" y="25400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Tải lại trang React trên bản deploy bị lỗi 404</a:t>
            </a:r>
          </a:p>
        </p:txBody>
      </p:sp>
      <p:sp>
        <p:nvSpPr>
          <p:cNvPr id="107" name="Arrow"/>
          <p:cNvSpPr/>
          <p:nvPr/>
        </p:nvSpPr>
        <p:spPr>
          <a:xfrm>
            <a:off x="3784600" y="29210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8" name="Solution"/>
          <p:cNvSpPr/>
          <p:nvPr/>
        </p:nvSpPr>
        <p:spPr>
          <a:xfrm>
            <a:off x="4064000" y="25400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Server trả về trang React cho mọi đường dẫn, không cache HTML</a:t>
            </a:r>
          </a:p>
        </p:txBody>
      </p:sp>
      <p:sp>
        <p:nvSpPr>
          <p:cNvPr id="109" name="Difficulty"/>
          <p:cNvSpPr/>
          <p:nvPr/>
        </p:nvSpPr>
        <p:spPr>
          <a:xfrm>
            <a:off x="635000" y="37084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Nội dung admin nhập có thể chứa mã độc (XSS)</a:t>
            </a:r>
          </a:p>
        </p:txBody>
      </p:sp>
      <p:sp>
        <p:nvSpPr>
          <p:cNvPr id="110" name="Arrow"/>
          <p:cNvSpPr/>
          <p:nvPr/>
        </p:nvSpPr>
        <p:spPr>
          <a:xfrm>
            <a:off x="3784600" y="40894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Solution"/>
          <p:cNvSpPr/>
          <p:nvPr/>
        </p:nvSpPr>
        <p:spPr>
          <a:xfrm>
            <a:off x="4064000" y="37084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Lọc thẻ, bỏ thuộc tính HTML; viết test kiểm tra</a:t>
            </a:r>
          </a:p>
        </p:txBody>
      </p:sp>
      <p:sp>
        <p:nvSpPr>
          <p:cNvPr id="112" name="Difficulty"/>
          <p:cNvSpPr/>
          <p:nvPr/>
        </p:nvSpPr>
        <p:spPr>
          <a:xfrm>
            <a:off x="635000" y="48768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Giao diện vỡ trên màn hình laptop</a:t>
            </a:r>
          </a:p>
        </p:txBody>
      </p:sp>
      <p:sp>
        <p:nvSpPr>
          <p:cNvPr id="113" name="Arrow"/>
          <p:cNvSpPr/>
          <p:nvPr/>
        </p:nvSpPr>
        <p:spPr>
          <a:xfrm>
            <a:off x="3784600" y="52578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4" name="Solution"/>
          <p:cNvSpPr/>
          <p:nvPr/>
        </p:nvSpPr>
        <p:spPr>
          <a:xfrm>
            <a:off x="4064000" y="48768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Đổi px sang rem, font gốc co giãn theo màn hình</a:t>
            </a:r>
          </a:p>
        </p:txBody>
      </p:sp>
      <p:sp>
        <p:nvSpPr>
          <p:cNvPr id="115" name="Lessons card"/>
          <p:cNvSpPr/>
          <p:nvPr/>
        </p:nvSpPr>
        <p:spPr>
          <a:xfrm>
            <a:off x="7620000" y="1346200"/>
            <a:ext cx="3937000" cy="4876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254000" tIns="228600" rIns="2540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700" b="1" dirty="0">
                <a:solidFill>
                  <a:srgbClr val="FFFFFF"/>
                </a:solidFill>
              </a:rPr>
              <a:t>Năng lực cần tiếp tục rèn luyện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Kiểm thử tự động, bảo mật web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Docker, giám sát hệ thống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Ước lượng thời gian, trình bày</a:t>
            </a:r>
          </a:p>
          <a:p>
            <a:pPr marL="0" indent="0" algn="l">
              <a:spcBef>
                <a:spcPts val="2200"/>
              </a:spcBef>
              <a:buNone/>
            </a:pPr>
            <a:r>
              <a:rPr lang="vi-VN" sz="1700" b="1" dirty="0">
                <a:solidFill>
                  <a:srgbClr val="FFFFFF"/>
                </a:solidFill>
              </a:rPr>
              <a:t>Tác phong nghề nghiệp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Kỷ luật, trách nhiệm: </a:t>
            </a:r>
            <a:r>
              <a:rPr lang="vi-VN" sz="1500" dirty="0">
                <a:solidFill>
                  <a:srgbClr val="DCEBFA"/>
                </a:solidFill>
              </a:rPr>
              <a:t>commit nhỏ, đúng chuẩn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Phối hợp nhóm: </a:t>
            </a:r>
            <a:r>
              <a:rPr lang="vi-VN" sz="1500" dirty="0">
                <a:solidFill>
                  <a:srgbClr val="DCEBFA"/>
                </a:solidFill>
              </a:rPr>
              <a:t>làm việc qua Pull Request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Tiếp thu góp ý: </a:t>
            </a:r>
            <a:r>
              <a:rPr lang="vi-VN" sz="1500" dirty="0">
                <a:solidFill>
                  <a:srgbClr val="DCEBFA"/>
                </a:solidFill>
              </a:rPr>
              <a:t>sửa 5 lỗi sau review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Bảo mật thông tin: </a:t>
            </a:r>
            <a:r>
              <a:rPr lang="vi-VN" sz="1500" dirty="0">
                <a:solidFill>
                  <a:srgbClr val="DCEBFA"/>
                </a:solidFill>
              </a:rPr>
              <a:t>khóa, mật khẩu để trong biến môi trường</a:t>
            </a:r>
          </a:p>
        </p:txBody>
      </p:sp>
    </p:spTree>
    <p:extLst>
      <p:ext uri="{BB962C8B-B14F-4D97-AF65-F5344CB8AC3E}">
        <p14:creationId xmlns:p14="http://schemas.microsoft.com/office/powerpoint/2010/main" val="369665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4A42-7F29-CEDE-C006-76A3DC00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Đề xuất cải tiến và kết luận</a:t>
            </a:r>
          </a:p>
        </p:txBody>
      </p:sp>
      <p:sp>
        <p:nvSpPr>
          <p:cNvPr id="100" name="Proposal label"/>
          <p:cNvSpPr/>
          <p:nvPr/>
        </p:nvSpPr>
        <p:spPr>
          <a:xfrm>
            <a:off x="635000" y="13208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ĐỀ XUẤT CẢI TIẾN: </a:t>
            </a:r>
            <a:r>
              <a:rPr lang="vi-VN" sz="1400" b="1" dirty="0">
                <a:solidFill>
                  <a:srgbClr val="1B75BB"/>
                </a:solidFill>
              </a:rPr>
              <a:t>Tự động xác nhận thanh toán chuyển khoản</a:t>
            </a:r>
          </a:p>
        </p:txBody>
      </p:sp>
      <p:sp>
        <p:nvSpPr>
          <p:cNvPr id="101" name="Proposal 1"/>
          <p:cNvSpPr/>
          <p:nvPr/>
        </p:nvSpPr>
        <p:spPr>
          <a:xfrm>
            <a:off x="635000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Vấn đề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Admin phải tự đối chiếu từng khoản chuyển khoản</a:t>
            </a:r>
          </a:p>
        </p:txBody>
      </p:sp>
      <p:sp>
        <p:nvSpPr>
          <p:cNvPr id="102" name="Arrow"/>
          <p:cNvSpPr/>
          <p:nvPr/>
        </p:nvSpPr>
        <p:spPr>
          <a:xfrm>
            <a:off x="3175000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3" name="Proposal 2"/>
          <p:cNvSpPr/>
          <p:nvPr/>
        </p:nvSpPr>
        <p:spPr>
          <a:xfrm>
            <a:off x="3445891" y="1727200"/>
            <a:ext cx="2489200" cy="2159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FFFFFF"/>
                </a:solidFill>
              </a:rPr>
              <a:t>Giải pháp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EAF3FC"/>
                </a:solidFill>
              </a:rPr>
              <a:t>Nhận webhook ngân hàng, khớp mã hóa đơn trong nội dung CK</a:t>
            </a:r>
          </a:p>
        </p:txBody>
      </p:sp>
      <p:sp>
        <p:nvSpPr>
          <p:cNvPr id="104" name="Arrow"/>
          <p:cNvSpPr/>
          <p:nvPr/>
        </p:nvSpPr>
        <p:spPr>
          <a:xfrm>
            <a:off x="5985891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Proposal 3"/>
          <p:cNvSpPr/>
          <p:nvPr/>
        </p:nvSpPr>
        <p:spPr>
          <a:xfrm>
            <a:off x="6256782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Lợi ích dự kiến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Học viên vào lớp ngay, giảm sai sót đối soát</a:t>
            </a:r>
          </a:p>
        </p:txBody>
      </p:sp>
      <p:sp>
        <p:nvSpPr>
          <p:cNvPr id="106" name="Arrow"/>
          <p:cNvSpPr/>
          <p:nvPr/>
        </p:nvSpPr>
        <p:spPr>
          <a:xfrm>
            <a:off x="8796782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7" name="Proposal 4"/>
          <p:cNvSpPr/>
          <p:nvPr/>
        </p:nvSpPr>
        <p:spPr>
          <a:xfrm>
            <a:off x="9067673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Khả năng áp dụng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Tài khoản dịch vụ đối soát; khoảng 1 tuần phát triển</a:t>
            </a:r>
          </a:p>
        </p:txBody>
      </p:sp>
      <p:sp>
        <p:nvSpPr>
          <p:cNvPr id="108" name="Conclusion box"/>
          <p:cNvSpPr/>
          <p:nvPr/>
        </p:nvSpPr>
        <p:spPr>
          <a:xfrm>
            <a:off x="635000" y="4140200"/>
            <a:ext cx="10922000" cy="20828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9" name="Conclusion bar"/>
          <p:cNvSpPr/>
          <p:nvPr/>
        </p:nvSpPr>
        <p:spPr>
          <a:xfrm>
            <a:off x="635000" y="4140200"/>
            <a:ext cx="76200" cy="2082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Conclusion text"/>
          <p:cNvSpPr/>
          <p:nvPr/>
        </p:nvSpPr>
        <p:spPr>
          <a:xfrm>
            <a:off x="965200" y="4318000"/>
            <a:ext cx="1041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luận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Hoàn thiện hệ thống quản lý trung tâm và đưa lên chạy thực tế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Số hóa dạy học, thi, thu phí và bán sách của trung tâm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Theo hướng Front-end, mở rộng dần sang Full-stack</a:t>
            </a:r>
          </a:p>
        </p:txBody>
      </p:sp>
    </p:spTree>
    <p:extLst>
      <p:ext uri="{BB962C8B-B14F-4D97-AF65-F5344CB8AC3E}">
        <p14:creationId xmlns:p14="http://schemas.microsoft.com/office/powerpoint/2010/main" val="185363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EC26-7DA4-F3DB-6FA5-FDEB7080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Em xin chân thành cảm ơn Hội đồng và quý thầy cô đã lắng nghe!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F3F1B-8426-BCA2-0391-EEBD37E7D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12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399789649]">
  <a:themeElements>
    <a:clrScheme name="ICTU">
      <a:dk1>
        <a:srgbClr val="1F2937"/>
      </a:dk1>
      <a:lt1>
        <a:srgbClr val="FFFFFF"/>
      </a:lt1>
      <a:dk2>
        <a:srgbClr val="0E3A66"/>
      </a:dk2>
      <a:lt2>
        <a:srgbClr val="EEF4FA"/>
      </a:lt2>
      <a:accent1>
        <a:srgbClr val="1B75BB"/>
      </a:accent1>
      <a:accent2>
        <a:srgbClr val="E89B2E"/>
      </a:accent2>
      <a:accent3>
        <a:srgbClr val="4FA3E0"/>
      </a:accent3>
      <a:accent4>
        <a:srgbClr val="6B7280"/>
      </a:accent4>
      <a:accent5>
        <a:srgbClr val="2E8B57"/>
      </a:accent5>
      <a:accent6>
        <a:srgbClr val="C0392B"/>
      </a:accent6>
      <a:hlink>
        <a:srgbClr val="1B75BB"/>
      </a:hlink>
      <a:folHlink>
        <a:srgbClr val="0E3A66"/>
      </a:folHlink>
    </a:clrScheme>
    <a:fontScheme name="ICTU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5E85CD-DA53-4A7B-B2A9-4E4274611550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a377a5e-b67c-433f-85a0-36f680fd11d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1299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 [1792399789649]</vt:lpstr>
      <vt:lpstr>[TÊN CƠ SỞ THỰC TẬP]</vt:lpstr>
      <vt:lpstr>Mục tiêu và phạm vi thực tập</vt:lpstr>
      <vt:lpstr>Tổng quan về đơn vị thực tập</vt:lpstr>
      <vt:lpstr>Quy trình [tên quy trình chuyên môn] tại [bộ phận]</vt:lpstr>
      <vt:lpstr>Nhiệm vụ 1: [Tên nhiệm vụ tiêu biểu]</vt:lpstr>
      <vt:lpstr>Nhiệm vụ 2: [Tên nhiệm vụ tiêu biểu]</vt:lpstr>
      <vt:lpstr>Nhiệm vụ 3: [Tên nhiệm vụ tiêu biểu]</vt:lpstr>
      <vt:lpstr>Kết quả đạt được sau [số] tuần thực tập</vt:lpstr>
      <vt:lpstr>Tự đánh giá và bài học kinh nghiệm</vt:lpstr>
      <vt:lpstr>Đề xuất cải tiến và kết luận</vt:lpstr>
      <vt:lpstr>Em xin chân thành cảm ơn Hội đồng và quý thầy cô đã lắng nghe!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Mây Dương</dc:creator>
  <cp:lastModifiedBy>Thu Mây Dương</cp:lastModifiedBy>
  <cp:revision>10</cp:revision>
  <dcterms:created xsi:type="dcterms:W3CDTF">2026-10-19T08:34:12Z</dcterms:created>
  <dcterms:modified xsi:type="dcterms:W3CDTF">2026-10-19T09:07:02Z</dcterms:modified>
</cp:coreProperties>
</file>